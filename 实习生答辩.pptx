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2943" y="1788021"/>
            <a:ext cx="320611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750"/>
              </a:spcAft>
              <a:buNone/>
            </a:pPr>
            <a:r>
              <a:rPr lang="en-US" sz="4800" b="1" dirty="0">
                <a:solidFill>
                  <a:srgbClr val="0E3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实习生答辩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495979" y="2692896"/>
            <a:ext cx="320004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700"/>
              </a:spcAft>
              <a:buNone/>
            </a:pPr>
            <a:r>
              <a:rPr lang="en-US" sz="1950" dirty="0">
                <a:solidFill>
                  <a:srgbClr val="4A556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SAIE 业务域 · AI 应用工程师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5715000" y="3369171"/>
            <a:ext cx="762000" cy="38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326565" y="3750171"/>
            <a:ext cx="3538871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65"/>
              </a:lnSpc>
              <a:buNone/>
            </a:pPr>
            <a:r>
              <a:rPr lang="en-US" sz="1650" b="1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员工：</a:t>
            </a:r>
            <a:pPr algn="ctr" indent="0" marL="0">
              <a:lnSpc>
                <a:spcPts val="3465"/>
              </a:lnSpc>
              <a:buNone/>
            </a:pPr>
            <a:r>
              <a:rPr lang="en-US" sz="16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田沛康 </a:t>
            </a:r>
            <a:pPr algn="ctr" indent="0" marL="0">
              <a:lnSpc>
                <a:spcPts val="3465"/>
              </a:lnSpc>
              <a:buNone/>
            </a:pPr>
            <a:r>
              <a:rPr lang="en-US" sz="1650" b="1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部门：</a:t>
            </a:r>
            <a:pPr algn="ctr" indent="0" marL="0">
              <a:lnSpc>
                <a:spcPts val="3465"/>
              </a:lnSpc>
              <a:buNone/>
            </a:pPr>
            <a:r>
              <a:rPr lang="en-US" sz="16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SAIE 业务域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326565" y="4190107"/>
            <a:ext cx="3538871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65"/>
              </a:lnSpc>
              <a:buNone/>
            </a:pPr>
            <a:r>
              <a:rPr lang="en-US" sz="1650" b="1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pPr algn="ctr" indent="0" marL="0">
              <a:lnSpc>
                <a:spcPts val="3465"/>
              </a:lnSpc>
              <a:buNone/>
            </a:pPr>
            <a:r>
              <a:rPr lang="en-US" sz="16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向云武 </a:t>
            </a:r>
            <a:pPr algn="ctr" indent="0" marL="0">
              <a:lnSpc>
                <a:spcPts val="3465"/>
              </a:lnSpc>
              <a:buNone/>
            </a:pPr>
            <a:r>
              <a:rPr lang="en-US" sz="1650" b="1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直接主管：</a:t>
            </a:r>
            <a:pPr algn="ctr" indent="0" marL="0">
              <a:lnSpc>
                <a:spcPts val="3465"/>
              </a:lnSpc>
              <a:buNone/>
            </a:pPr>
            <a:r>
              <a:rPr lang="en-US" sz="16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李兆星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326565" y="4630043"/>
            <a:ext cx="3538871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65"/>
              </a:lnSpc>
              <a:buNone/>
            </a:pPr>
            <a:r>
              <a:rPr lang="en-US" sz="1650" b="1" dirty="0">
                <a:solidFill>
                  <a:srgbClr val="1A2230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实习周期：</a:t>
            </a:r>
            <a:pPr algn="ctr" indent="0" marL="0">
              <a:lnSpc>
                <a:spcPts val="3465"/>
              </a:lnSpc>
              <a:buNone/>
            </a:pPr>
            <a:r>
              <a:rPr lang="en-US" sz="16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2026.07 — 2026.08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604963"/>
            <a:ext cx="10287000" cy="6953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1075" y="1738313"/>
            <a:ext cx="0" cy="428625"/>
          </a:xfrm>
          <a:prstGeom prst="line">
            <a:avLst/>
          </a:prstGeom>
          <a:noFill/>
          <a:ln w="57150">
            <a:solidFill>
              <a:srgbClr val="0E3F8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38250" y="1738313"/>
            <a:ext cx="54406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00250" y="1785938"/>
            <a:ext cx="101041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E3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自我介绍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058400" y="1828800"/>
            <a:ext cx="971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教育与入职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52500" y="2471738"/>
            <a:ext cx="10287000" cy="69532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81075" y="2605088"/>
            <a:ext cx="0" cy="428625"/>
          </a:xfrm>
          <a:prstGeom prst="line">
            <a:avLst/>
          </a:prstGeom>
          <a:noFill/>
          <a:ln w="5715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238250" y="2605088"/>
            <a:ext cx="54406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000250" y="2652713"/>
            <a:ext cx="176822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学习及工作内容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058400" y="2695575"/>
            <a:ext cx="971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7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基础与产出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52500" y="3338513"/>
            <a:ext cx="10287000" cy="69532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81075" y="3471863"/>
            <a:ext cx="0" cy="428625"/>
          </a:xfrm>
          <a:prstGeom prst="line">
            <a:avLst/>
          </a:prstGeom>
          <a:noFill/>
          <a:ln w="5715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238250" y="3471863"/>
            <a:ext cx="54406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000250" y="3519488"/>
            <a:ext cx="227342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主要工作输出及总结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248900" y="3562350"/>
            <a:ext cx="7772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7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两大项目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52500" y="4205288"/>
            <a:ext cx="10287000" cy="69532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81075" y="4338638"/>
            <a:ext cx="0" cy="428625"/>
          </a:xfrm>
          <a:prstGeom prst="line">
            <a:avLst/>
          </a:prstGeom>
          <a:noFill/>
          <a:ln w="5715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238250" y="4338638"/>
            <a:ext cx="54406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2000250" y="4386263"/>
            <a:ext cx="303123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自我反思及下一步学习计划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0058400" y="4429125"/>
            <a:ext cx="971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7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收获与规划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42900" y="6453187"/>
            <a:ext cx="115062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42900" y="6515100"/>
            <a:ext cx="16517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7A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田沛康 · SAIE 业务域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515279" y="6529388"/>
            <a:ext cx="3404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2/22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100" y="1733550"/>
            <a:ext cx="0" cy="495300"/>
          </a:xfrm>
          <a:prstGeom prst="line">
            <a:avLst/>
          </a:prstGeom>
          <a:noFill/>
          <a:ln w="762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409700" y="1733550"/>
            <a:ext cx="983208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>
                <a:solidFill>
                  <a:srgbClr val="0E3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自我介绍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" y="2419350"/>
            <a:ext cx="9906000" cy="9525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62050" y="2571750"/>
            <a:ext cx="0" cy="647700"/>
          </a:xfrm>
          <a:prstGeom prst="line">
            <a:avLst/>
          </a:prstGeom>
          <a:noFill/>
          <a:ln w="381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409700" y="2571750"/>
            <a:ext cx="959891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0E3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教育经历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09700" y="2905125"/>
            <a:ext cx="959891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4A556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2023.09 — 2027.06　华南理工大学　计算机科学与技术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43000" y="3505200"/>
            <a:ext cx="9906000" cy="1266825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62050" y="3657600"/>
            <a:ext cx="0" cy="962025"/>
          </a:xfrm>
          <a:prstGeom prst="line">
            <a:avLst/>
          </a:prstGeom>
          <a:noFill/>
          <a:ln w="381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409700" y="3657600"/>
            <a:ext cx="959891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0E3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入职华为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09700" y="3990975"/>
            <a:ext cx="959891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4A556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2026.07.01　SAIE 业务域（ICT BG）　AI 应用工程师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409700" y="4305300"/>
            <a:ext cx="959891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4A556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Omni 生态 · 大数据方向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342900" y="6453187"/>
            <a:ext cx="115062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42900" y="6515100"/>
            <a:ext cx="16517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7A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田沛康 · SAIE 业务域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515279" y="6529388"/>
            <a:ext cx="3404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3/22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604963"/>
            <a:ext cx="10287000" cy="69532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1075" y="1738313"/>
            <a:ext cx="0" cy="428625"/>
          </a:xfrm>
          <a:prstGeom prst="line">
            <a:avLst/>
          </a:prstGeom>
          <a:noFill/>
          <a:ln w="5715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52500" y="1604963"/>
            <a:ext cx="10492740" cy="695325"/>
          </a:xfrm>
          <a:prstGeom prst="rect">
            <a:avLst/>
          </a:prstGeom>
          <a:noFill/>
          <a:ln/>
        </p:spPr>
        <p:txBody>
          <a:bodyPr wrap="square" lIns="228600" tIns="133350" rIns="228600" bIns="13335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  <a:p>
            <a:pPr algn="l" indent="0" marL="0">
              <a:buNone/>
            </a:pPr>
            <a:r>
              <a:rPr lang="en-US" sz="1950" b="1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自我介绍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52500" y="2471738"/>
            <a:ext cx="10287000" cy="6953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81075" y="2605088"/>
            <a:ext cx="0" cy="428625"/>
          </a:xfrm>
          <a:prstGeom prst="line">
            <a:avLst/>
          </a:prstGeom>
          <a:noFill/>
          <a:ln w="57150">
            <a:solidFill>
              <a:srgbClr val="0E3F8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238250" y="2605088"/>
            <a:ext cx="54406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000250" y="2652713"/>
            <a:ext cx="176822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E3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学习及工作内容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058400" y="2695575"/>
            <a:ext cx="971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基础与产出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52500" y="3338513"/>
            <a:ext cx="10287000" cy="69532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81075" y="3471863"/>
            <a:ext cx="0" cy="428625"/>
          </a:xfrm>
          <a:prstGeom prst="line">
            <a:avLst/>
          </a:prstGeom>
          <a:noFill/>
          <a:ln w="5715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52500" y="3338513"/>
            <a:ext cx="10492740" cy="695325"/>
          </a:xfrm>
          <a:prstGeom prst="rect">
            <a:avLst/>
          </a:prstGeom>
          <a:noFill/>
          <a:ln/>
        </p:spPr>
        <p:txBody>
          <a:bodyPr wrap="square" lIns="228600" tIns="133350" rIns="228600" bIns="13335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  <a:p>
            <a:pPr algn="l" indent="0" marL="0">
              <a:buNone/>
            </a:pPr>
            <a:r>
              <a:rPr lang="en-US" sz="1950" b="1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主要工作输出及总结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52500" y="4205288"/>
            <a:ext cx="10287000" cy="69532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81075" y="4338638"/>
            <a:ext cx="0" cy="428625"/>
          </a:xfrm>
          <a:prstGeom prst="line">
            <a:avLst/>
          </a:prstGeom>
          <a:noFill/>
          <a:ln w="5715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52500" y="4205288"/>
            <a:ext cx="10492740" cy="695325"/>
          </a:xfrm>
          <a:prstGeom prst="rect">
            <a:avLst/>
          </a:prstGeom>
          <a:noFill/>
          <a:ln/>
        </p:spPr>
        <p:txBody>
          <a:bodyPr wrap="square" lIns="228600" tIns="133350" rIns="228600" bIns="13335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  <a:p>
            <a:pPr algn="l" indent="0" marL="0">
              <a:buNone/>
            </a:pPr>
            <a:r>
              <a:rPr lang="en-US" sz="1950" b="1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自我反思及下一步学习计划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2900" y="6453187"/>
            <a:ext cx="115062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42900" y="6515100"/>
            <a:ext cx="16517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7A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田沛康 · SAIE 业务域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515279" y="6529388"/>
            <a:ext cx="3404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4/22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271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1000" y="133350"/>
            <a:ext cx="2448306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学习及工作内容介绍</a:t>
            </a:r>
            <a:endParaRPr lang="en-US" sz="2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727621"/>
          <a:ext cx="114300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5715000"/>
                <a:gridCol w="4114800"/>
              </a:tblGrid>
              <a:tr h="4487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75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分类</a:t>
                      </a:r>
                      <a:endParaRPr lang="en-US" sz="1575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75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工作学习任务</a:t>
                      </a:r>
                      <a:endParaRPr lang="en-US" sz="1575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75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输出和收获</a:t>
                      </a:r>
                      <a:endParaRPr lang="en-US" sz="1575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4FA8"/>
                    </a:solidFill>
                  </a:tcPr>
                </a:tc>
              </a:tr>
              <a:tr h="73048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0E3F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个人相关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大数据基础学习（Flink/Spark/鲲鹏生态）；Agent 生态调研（九问平台、27 方案）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建立流处理全貌认知；理清 skill 驱动机制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525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0E3F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工作相关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Arial" pitchFamily="34" charset="0"/>
                          <a:ea typeface="Microsoft YaHei" pitchFamily="34" charset="-122"/>
                          <a:cs typeface="Arial" pitchFamily="34" charset="-120"/>
                        </a:rPr>
                        <a:t>OmniStream 表达式开发；PPT-Agentskill 开发与调优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10+ 表达式提 PR；4 角色流水线落地；公式原生插入 WPS 验证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81000" y="5867400"/>
            <a:ext cx="11430000" cy="5048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400050" y="5962650"/>
            <a:ext cx="0" cy="314325"/>
          </a:xfrm>
          <a:prstGeom prst="line">
            <a:avLst/>
          </a:prstGeom>
          <a:noFill/>
          <a:ln w="381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71500" y="5962650"/>
            <a:ext cx="1130884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学习与工作交织推进：个人相关打基础、工作相关出产出，两者相互支撑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342900" y="6453187"/>
            <a:ext cx="115062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42900" y="6515100"/>
            <a:ext cx="16517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7A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田沛康 · SAIE 业务域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515279" y="6529388"/>
            <a:ext cx="3404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5/22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604963"/>
            <a:ext cx="10287000" cy="69532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1075" y="1738313"/>
            <a:ext cx="0" cy="428625"/>
          </a:xfrm>
          <a:prstGeom prst="line">
            <a:avLst/>
          </a:prstGeom>
          <a:noFill/>
          <a:ln w="5715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52500" y="1604963"/>
            <a:ext cx="10492740" cy="695325"/>
          </a:xfrm>
          <a:prstGeom prst="rect">
            <a:avLst/>
          </a:prstGeom>
          <a:noFill/>
          <a:ln/>
        </p:spPr>
        <p:txBody>
          <a:bodyPr wrap="square" lIns="228600" tIns="133350" rIns="228600" bIns="13335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  <a:p>
            <a:pPr algn="l" indent="0" marL="0">
              <a:buNone/>
            </a:pPr>
            <a:r>
              <a:rPr lang="en-US" sz="1950" b="1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自我介绍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52500" y="2471738"/>
            <a:ext cx="10287000" cy="69532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81075" y="2605088"/>
            <a:ext cx="0" cy="428625"/>
          </a:xfrm>
          <a:prstGeom prst="line">
            <a:avLst/>
          </a:prstGeom>
          <a:noFill/>
          <a:ln w="5715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52500" y="2471738"/>
            <a:ext cx="10492740" cy="695325"/>
          </a:xfrm>
          <a:prstGeom prst="rect">
            <a:avLst/>
          </a:prstGeom>
          <a:noFill/>
          <a:ln/>
        </p:spPr>
        <p:txBody>
          <a:bodyPr wrap="square" lIns="228600" tIns="133350" rIns="228600" bIns="13335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  <a:p>
            <a:pPr algn="l" indent="0" marL="0">
              <a:buNone/>
            </a:pPr>
            <a:r>
              <a:rPr lang="en-US" sz="1950" b="1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学习及工作内容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52500" y="3338513"/>
            <a:ext cx="10287000" cy="6953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981075" y="3471863"/>
            <a:ext cx="0" cy="428625"/>
          </a:xfrm>
          <a:prstGeom prst="line">
            <a:avLst/>
          </a:prstGeom>
          <a:noFill/>
          <a:ln w="57150">
            <a:solidFill>
              <a:srgbClr val="0E3F8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238250" y="3471863"/>
            <a:ext cx="54406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000250" y="3519488"/>
            <a:ext cx="227342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E3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主要工作输出及总结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248900" y="3562350"/>
            <a:ext cx="7772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两大项目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52500" y="4205288"/>
            <a:ext cx="10287000" cy="69532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81075" y="4338638"/>
            <a:ext cx="0" cy="428625"/>
          </a:xfrm>
          <a:prstGeom prst="line">
            <a:avLst/>
          </a:prstGeom>
          <a:noFill/>
          <a:ln w="5715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52500" y="4205288"/>
            <a:ext cx="10492740" cy="695325"/>
          </a:xfrm>
          <a:prstGeom prst="rect">
            <a:avLst/>
          </a:prstGeom>
          <a:noFill/>
          <a:ln/>
        </p:spPr>
        <p:txBody>
          <a:bodyPr wrap="square" lIns="228600" tIns="133350" rIns="228600" bIns="13335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  <a:p>
            <a:pPr algn="l" indent="0" marL="0">
              <a:buNone/>
            </a:pPr>
            <a:r>
              <a:rPr lang="en-US" sz="1950" b="1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自我反思及下一步学习计划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2900" y="6453187"/>
            <a:ext cx="115062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42900" y="6515100"/>
            <a:ext cx="16517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7A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田沛康 · SAIE 业务域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515279" y="6529388"/>
            <a:ext cx="3404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6/22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271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1000" y="133350"/>
            <a:ext cx="7723367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项目背景：OmniStream —— 基于 Flink 生态的流处理性能加速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81000" y="727621"/>
            <a:ext cx="11430000" cy="3820567"/>
          </a:xfrm>
          <a:prstGeom prst="rect">
            <a:avLst/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5" name="Image 0" descr="C:\Users\int2t\AppData\Local\Temp\html2pptx-5uU0B1\html2pptx-bg-1787716435210-1c307a88d79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173" y="832396"/>
            <a:ext cx="11143506" cy="36108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1000" y="4643438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Flink 跑在 JVM 上，高负载下三类瓶颈</a:t>
            </a:r>
            <a:endParaRPr lang="en-US" sz="1575" dirty="0"/>
          </a:p>
        </p:txBody>
      </p:sp>
      <p:sp>
        <p:nvSpPr>
          <p:cNvPr id="7" name="Shape 4"/>
          <p:cNvSpPr/>
          <p:nvPr/>
        </p:nvSpPr>
        <p:spPr>
          <a:xfrm>
            <a:off x="381000" y="4767263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381000" y="5000625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内存回收停顿打断低延迟，字节码预热慢，热点才编译</a:t>
            </a:r>
            <a:endParaRPr lang="en-US" sz="1575" dirty="0"/>
          </a:p>
        </p:txBody>
      </p:sp>
      <p:sp>
        <p:nvSpPr>
          <p:cNvPr id="9" name="Shape 6"/>
          <p:cNvSpPr/>
          <p:nvPr/>
        </p:nvSpPr>
        <p:spPr>
          <a:xfrm>
            <a:off x="381000" y="5124450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81000" y="5357813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对象序列化开销逐条放大</a:t>
            </a:r>
            <a:endParaRPr lang="en-US" sz="1575" dirty="0"/>
          </a:p>
        </p:txBody>
      </p:sp>
      <p:sp>
        <p:nvSpPr>
          <p:cNvPr id="11" name="Shape 8"/>
          <p:cNvSpPr/>
          <p:nvPr/>
        </p:nvSpPr>
        <p:spPr>
          <a:xfrm>
            <a:off x="381000" y="5481638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81000" y="5715000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OmniStream 用 C++ 重写算子，配合向量化 SIMD 指令</a:t>
            </a:r>
            <a:endParaRPr lang="en-US" sz="1575" dirty="0"/>
          </a:p>
        </p:txBody>
      </p:sp>
      <p:sp>
        <p:nvSpPr>
          <p:cNvPr id="13" name="Shape 10"/>
          <p:cNvSpPr/>
          <p:nvPr/>
        </p:nvSpPr>
        <p:spPr>
          <a:xfrm>
            <a:off x="381000" y="5838825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381000" y="6072188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消除 JVM 开销，端到端提升流处理性能</a:t>
            </a:r>
            <a:endParaRPr lang="en-US" sz="1575" dirty="0"/>
          </a:p>
        </p:txBody>
      </p:sp>
      <p:sp>
        <p:nvSpPr>
          <p:cNvPr id="15" name="Shape 12"/>
          <p:cNvSpPr/>
          <p:nvPr/>
        </p:nvSpPr>
        <p:spPr>
          <a:xfrm>
            <a:off x="381000" y="6196013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342900" y="6453187"/>
            <a:ext cx="115062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342900" y="6515100"/>
            <a:ext cx="16517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7A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田沛康 · SAIE 业务域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1515279" y="6529388"/>
            <a:ext cx="3404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7/22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271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1000" y="133350"/>
            <a:ext cx="5389066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三仓库双层架构：Java 适配层 + C++ 核心层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81000" y="727621"/>
            <a:ext cx="11430000" cy="2476500"/>
          </a:xfrm>
          <a:prstGeom prst="rect">
            <a:avLst/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5" name="Image 0" descr="C:\Users\int2t\AppData\Local\Temp\html2pptx-5uU0B1\html2pptx-bg-1787716435397-5b90c74c6bc56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775" y="1108770"/>
            <a:ext cx="11220450" cy="1714054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3299371"/>
          <a:ext cx="11430000" cy="914400"/>
        </p:xfrm>
        <a:graphic>
          <a:graphicData uri="http://schemas.openxmlformats.org/drawingml/2006/table">
            <a:tbl>
              <a:tblPr/>
              <a:tblGrid>
                <a:gridCol w="2971800"/>
                <a:gridCol w="5029200"/>
                <a:gridCol w="3429000"/>
              </a:tblGrid>
              <a:tr h="448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75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仓库</a:t>
                      </a:r>
                      <a:endParaRPr lang="en-US" sz="1575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75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职责</a:t>
                      </a:r>
                      <a:endParaRPr lang="en-US" sz="1575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75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产物</a:t>
                      </a:r>
                      <a:endParaRPr lang="en-US" sz="1575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4FA8"/>
                    </a:solidFill>
                  </a:tcPr>
                </a:tc>
              </a:tr>
              <a:tr h="4536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0E3F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OmniStream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原生运行时框架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libtnel.so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84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0E3F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OmniAdaptor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Flink 桥接与算子替换决策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flink-tnel.jar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84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0E3F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OmniOperator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底层向量化算子内核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5×.so + 2×.jar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381000" y="5867400"/>
            <a:ext cx="11430000" cy="5048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400050" y="5962650"/>
            <a:ext cx="0" cy="314325"/>
          </a:xfrm>
          <a:prstGeom prst="line">
            <a:avLst/>
          </a:prstGeom>
          <a:noFill/>
          <a:ln w="381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571500" y="5962650"/>
            <a:ext cx="1130884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零侵入接入：只改两个配置文件，不改 Flink 内核代码；不支持算子自动回退 Flink 原生 Java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342900" y="6453187"/>
            <a:ext cx="115062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342900" y="6515100"/>
            <a:ext cx="16517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7A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田沛康 · SAIE 业务域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1515279" y="6529388"/>
            <a:ext cx="3404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8/22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271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1000" y="133350"/>
            <a:ext cx="6297769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表达式开发总览：让 SQL 表达式走 Native 加速路径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81000" y="727621"/>
            <a:ext cx="11430000" cy="4177754"/>
          </a:xfrm>
          <a:prstGeom prst="rect">
            <a:avLst/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5" name="Image 0" descr="C:\Users\int2t\AppData\Local\Temp\html2pptx-5uU0B1\html2pptx-bg-1787716435569-a62a9c439d3c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6471" y="832396"/>
            <a:ext cx="2938909" cy="39682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1000" y="5000625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阶段生命周期：规划 → 部署 → 解析 → 编译 → 运行</a:t>
            </a:r>
            <a:endParaRPr lang="en-US" sz="1575" dirty="0"/>
          </a:p>
        </p:txBody>
      </p:sp>
      <p:sp>
        <p:nvSpPr>
          <p:cNvPr id="7" name="Shape 4"/>
          <p:cNvSpPr/>
          <p:nvPr/>
        </p:nvSpPr>
        <p:spPr>
          <a:xfrm>
            <a:off x="381000" y="5124450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381000" y="5357813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四类分类体系：Type A 标量函数、Type B 特殊语法、Type C 聚合、Type D 别名</a:t>
            </a:r>
            <a:endParaRPr lang="en-US" sz="1575" dirty="0"/>
          </a:p>
        </p:txBody>
      </p:sp>
      <p:sp>
        <p:nvSpPr>
          <p:cNvPr id="9" name="Shape 6"/>
          <p:cNvSpPr/>
          <p:nvPr/>
        </p:nvSpPr>
        <p:spPr>
          <a:xfrm>
            <a:off x="381000" y="5481638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81000" y="5715000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双执行后端：向量化优先，即时编译次选，都不行回退 Java</a:t>
            </a:r>
            <a:endParaRPr lang="en-US" sz="1575" dirty="0"/>
          </a:p>
        </p:txBody>
      </p:sp>
      <p:sp>
        <p:nvSpPr>
          <p:cNvPr id="11" name="Shape 8"/>
          <p:cNvSpPr/>
          <p:nvPr/>
        </p:nvSpPr>
        <p:spPr>
          <a:xfrm>
            <a:off x="381000" y="5838825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81000" y="6072188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选路公式：优先向量化，不行才即时编译，都不行回退 Java</a:t>
            </a:r>
            <a:endParaRPr lang="en-US" sz="1575" dirty="0"/>
          </a:p>
        </p:txBody>
      </p:sp>
      <p:sp>
        <p:nvSpPr>
          <p:cNvPr id="13" name="Shape 10"/>
          <p:cNvSpPr/>
          <p:nvPr/>
        </p:nvSpPr>
        <p:spPr>
          <a:xfrm>
            <a:off x="381000" y="6196013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342900" y="6453187"/>
            <a:ext cx="115062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42900" y="6515100"/>
            <a:ext cx="16517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7A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田沛康 · SAIE 业务域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1515279" y="6529388"/>
            <a:ext cx="3404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9/22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271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1000" y="133350"/>
            <a:ext cx="3808476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表达式开发案例：三类范式覆盖</a:t>
            </a:r>
            <a:endParaRPr lang="en-US" sz="2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727621"/>
          <a:ext cx="1143000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2971800"/>
                <a:gridCol w="5943600"/>
              </a:tblGrid>
              <a:tr h="4486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75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案例</a:t>
                      </a:r>
                      <a:endParaRPr lang="en-US" sz="1575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75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范式</a:t>
                      </a:r>
                      <a:endParaRPr lang="en-US" sz="1575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75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要点</a:t>
                      </a:r>
                      <a:endParaRPr lang="en-US" sz="1575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4FA8"/>
                    </a:solidFill>
                  </a:tcPr>
                </a:tc>
              </a:tr>
              <a:tr h="453386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0E3F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IFNULL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别名映射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语义等价已有函数，一行映射完成原生化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8158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0E3F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LEFT/RIGHT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纯向量化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 UTF-8 码点切片，绝不切断多字节字符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8158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0E3F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BETWEEN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借原语编译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语义可拆成两个比较，借已有原语组合执行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8158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0E3F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SIMILAR TO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专用函数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正则不可拆，需专用函数解释执行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81000" y="5867400"/>
            <a:ext cx="11430000" cy="5048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400050" y="5962650"/>
            <a:ext cx="0" cy="314325"/>
          </a:xfrm>
          <a:prstGeom prst="line">
            <a:avLst/>
          </a:prstGeom>
          <a:noFill/>
          <a:ln w="381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71500" y="5962650"/>
            <a:ext cx="1130884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一映射、一向量化、一组合、一专用：四类范式覆盖表达式开发全场景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342900" y="6453187"/>
            <a:ext cx="115062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42900" y="6515100"/>
            <a:ext cx="16517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7A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田沛康 · SAIE 业务域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420029" y="6529388"/>
            <a:ext cx="4376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10/22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271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1000" y="133350"/>
            <a:ext cx="6786277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问题排查：BETWEEN 崩溃定位与 vanilla 对照组二分法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81000" y="727621"/>
            <a:ext cx="11430000" cy="3820567"/>
          </a:xfrm>
          <a:prstGeom prst="rect">
            <a:avLst/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5" name="Image 0" descr="C:\Users\int2t\AppData\Local\Temp\html2pptx-5uU0B1\html2pptx-bg-1787716435829-b875ddb82a8d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1830" y="832396"/>
            <a:ext cx="3868192" cy="36108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1000" y="4643438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问题：BETWEEN 在反向区间下崩溃</a:t>
            </a:r>
            <a:endParaRPr lang="en-US" sz="1575" dirty="0"/>
          </a:p>
        </p:txBody>
      </p:sp>
      <p:sp>
        <p:nvSpPr>
          <p:cNvPr id="7" name="Shape 4"/>
          <p:cNvSpPr/>
          <p:nvPr/>
        </p:nvSpPr>
        <p:spPr>
          <a:xfrm>
            <a:off x="381000" y="4767263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381000" y="5000625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方法：用原生 Flink 做对照组二分法</a:t>
            </a:r>
            <a:endParaRPr lang="en-US" sz="1575" dirty="0"/>
          </a:p>
        </p:txBody>
      </p:sp>
      <p:sp>
        <p:nvSpPr>
          <p:cNvPr id="9" name="Shape 6"/>
          <p:cNvSpPr/>
          <p:nvPr/>
        </p:nvSpPr>
        <p:spPr>
          <a:xfrm>
            <a:off x="381000" y="5124450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81000" y="5357813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投影路径：原生也崩 = Flink 源码缺陷，规避输入</a:t>
            </a:r>
            <a:endParaRPr lang="en-US" sz="1575" dirty="0"/>
          </a:p>
        </p:txBody>
      </p:sp>
      <p:sp>
        <p:nvSpPr>
          <p:cNvPr id="11" name="Shape 8"/>
          <p:cNvSpPr/>
          <p:nvPr/>
        </p:nvSpPr>
        <p:spPr>
          <a:xfrm>
            <a:off x="381000" y="5481638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81000" y="5715000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过滤路径：原生正常 = 本侧 bug，修复</a:t>
            </a:r>
            <a:endParaRPr lang="en-US" sz="1575" dirty="0"/>
          </a:p>
        </p:txBody>
      </p:sp>
      <p:sp>
        <p:nvSpPr>
          <p:cNvPr id="13" name="Shape 10"/>
          <p:cNvSpPr/>
          <p:nvPr/>
        </p:nvSpPr>
        <p:spPr>
          <a:xfrm>
            <a:off x="381000" y="5838825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381000" y="6072188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让“甩锅还是背锅”有客观依据</a:t>
            </a:r>
            <a:endParaRPr lang="en-US" sz="1575" dirty="0"/>
          </a:p>
        </p:txBody>
      </p:sp>
      <p:sp>
        <p:nvSpPr>
          <p:cNvPr id="15" name="Shape 12"/>
          <p:cNvSpPr/>
          <p:nvPr/>
        </p:nvSpPr>
        <p:spPr>
          <a:xfrm>
            <a:off x="381000" y="6196013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342900" y="6453187"/>
            <a:ext cx="115062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342900" y="6515100"/>
            <a:ext cx="16517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7A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田沛康 · SAIE 业务域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1432679" y="6529388"/>
            <a:ext cx="4247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11/22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271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1000" y="133350"/>
            <a:ext cx="7753424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项目背景：AgentOS —— 一体机办公 Agent 与 PPT-Agentskill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81000" y="727621"/>
            <a:ext cx="11430000" cy="3820567"/>
          </a:xfrm>
          <a:prstGeom prst="rect">
            <a:avLst/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5" name="Image 0" descr="C:\Users\int2t\AppData\Local\Temp\html2pptx-5uU0B1\html2pptx-bg-1787716436001-9cb886fcd3dc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4371" y="832545"/>
            <a:ext cx="1783110" cy="36107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1000" y="4643438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基于九问 Agent 平台开发一体机办公 Agent</a:t>
            </a:r>
            <a:endParaRPr lang="en-US" sz="1575" dirty="0"/>
          </a:p>
        </p:txBody>
      </p:sp>
      <p:sp>
        <p:nvSpPr>
          <p:cNvPr id="7" name="Shape 4"/>
          <p:cNvSpPr/>
          <p:nvPr/>
        </p:nvSpPr>
        <p:spPr>
          <a:xfrm>
            <a:off x="381000" y="4767263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381000" y="5000625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把大模型能力做成本地化、可编辑交付的办公智能体</a:t>
            </a:r>
            <a:endParaRPr lang="en-US" sz="1575" dirty="0"/>
          </a:p>
        </p:txBody>
      </p:sp>
      <p:sp>
        <p:nvSpPr>
          <p:cNvPr id="9" name="Shape 6"/>
          <p:cNvSpPr/>
          <p:nvPr/>
        </p:nvSpPr>
        <p:spPr>
          <a:xfrm>
            <a:off x="381000" y="5124450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81000" y="5357813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产物必须可编辑（中文办公刚需）</a:t>
            </a:r>
            <a:endParaRPr lang="en-US" sz="1575" dirty="0"/>
          </a:p>
        </p:txBody>
      </p:sp>
      <p:sp>
        <p:nvSpPr>
          <p:cNvPr id="11" name="Shape 8"/>
          <p:cNvSpPr/>
          <p:nvPr/>
        </p:nvSpPr>
        <p:spPr>
          <a:xfrm>
            <a:off x="381000" y="5481638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81000" y="5715000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本地化部署，接一体机模型降本</a:t>
            </a:r>
            <a:endParaRPr lang="en-US" sz="1575" dirty="0"/>
          </a:p>
        </p:txBody>
      </p:sp>
      <p:sp>
        <p:nvSpPr>
          <p:cNvPr id="13" name="Shape 10"/>
          <p:cNvSpPr/>
          <p:nvPr/>
        </p:nvSpPr>
        <p:spPr>
          <a:xfrm>
            <a:off x="381000" y="5838825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381000" y="6072188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WPS 兼容性是硬约束，催生公式原生插入核心难题</a:t>
            </a:r>
            <a:endParaRPr lang="en-US" sz="1575" dirty="0"/>
          </a:p>
        </p:txBody>
      </p:sp>
      <p:sp>
        <p:nvSpPr>
          <p:cNvPr id="15" name="Shape 12"/>
          <p:cNvSpPr/>
          <p:nvPr/>
        </p:nvSpPr>
        <p:spPr>
          <a:xfrm>
            <a:off x="381000" y="6196013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342900" y="6453187"/>
            <a:ext cx="115062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342900" y="6515100"/>
            <a:ext cx="16517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7A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田沛康 · SAIE 业务域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1420029" y="6529388"/>
            <a:ext cx="4376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12/22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271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1000" y="133350"/>
            <a:ext cx="9554132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4 角色流水线架构：attachment-reader → planner → researcher → designer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81000" y="727621"/>
            <a:ext cx="11430000" cy="3463379"/>
          </a:xfrm>
          <a:prstGeom prst="rect">
            <a:avLst/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5" name="Image 0" descr="C:\Users\int2t\AppData\Local\Temp\html2pptx-5uU0B1\html2pptx-bg-1787716436163-abcc325c44bb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775" y="2098328"/>
            <a:ext cx="11220450" cy="721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1000" y="4286250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角色各司其职，强制分工与校验</a:t>
            </a:r>
            <a:endParaRPr lang="en-US" sz="1575" dirty="0"/>
          </a:p>
        </p:txBody>
      </p:sp>
      <p:sp>
        <p:nvSpPr>
          <p:cNvPr id="7" name="Shape 4"/>
          <p:cNvSpPr/>
          <p:nvPr/>
        </p:nvSpPr>
        <p:spPr>
          <a:xfrm>
            <a:off x="381000" y="4410075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381000" y="4643438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attachment-reader：MinerU-first 提取结构化内容</a:t>
            </a:r>
            <a:endParaRPr lang="en-US" sz="1575" dirty="0"/>
          </a:p>
        </p:txBody>
      </p:sp>
      <p:sp>
        <p:nvSpPr>
          <p:cNvPr id="9" name="Shape 6"/>
          <p:cNvSpPr/>
          <p:nvPr/>
        </p:nvSpPr>
        <p:spPr>
          <a:xfrm>
            <a:off x="381000" y="4767263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81000" y="5000625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ppt-planner：设计大纲结构 + 需求对齐</a:t>
            </a:r>
            <a:endParaRPr lang="en-US" sz="1575" dirty="0"/>
          </a:p>
        </p:txBody>
      </p:sp>
      <p:sp>
        <p:nvSpPr>
          <p:cNvPr id="11" name="Shape 8"/>
          <p:cNvSpPr/>
          <p:nvPr/>
        </p:nvSpPr>
        <p:spPr>
          <a:xfrm>
            <a:off x="381000" y="5124450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81000" y="5357813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ppt-researcher：调研信息 + 写文稿 + 自审</a:t>
            </a:r>
            <a:endParaRPr lang="en-US" sz="1575" dirty="0"/>
          </a:p>
        </p:txBody>
      </p:sp>
      <p:sp>
        <p:nvSpPr>
          <p:cNvPr id="13" name="Shape 10"/>
          <p:cNvSpPr/>
          <p:nvPr/>
        </p:nvSpPr>
        <p:spPr>
          <a:xfrm>
            <a:off x="381000" y="5481638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381000" y="5715000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ppt-designer：视觉平衡 HTML 幻灯片 + 逐页 QA</a:t>
            </a:r>
            <a:endParaRPr lang="en-US" sz="1575" dirty="0"/>
          </a:p>
        </p:txBody>
      </p:sp>
      <p:sp>
        <p:nvSpPr>
          <p:cNvPr id="15" name="Shape 12"/>
          <p:cNvSpPr/>
          <p:nvPr/>
        </p:nvSpPr>
        <p:spPr>
          <a:xfrm>
            <a:off x="381000" y="5838825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381000" y="6072188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双层质量保证：脚本硬校验 + LLM 自审</a:t>
            </a:r>
            <a:endParaRPr lang="en-US" sz="1575" dirty="0"/>
          </a:p>
        </p:txBody>
      </p:sp>
      <p:sp>
        <p:nvSpPr>
          <p:cNvPr id="17" name="Shape 14"/>
          <p:cNvSpPr/>
          <p:nvPr/>
        </p:nvSpPr>
        <p:spPr>
          <a:xfrm>
            <a:off x="381000" y="6196013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342900" y="6453187"/>
            <a:ext cx="115062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342900" y="6515100"/>
            <a:ext cx="16517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7A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田沛康 · SAIE 业务域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1420029" y="6529388"/>
            <a:ext cx="4376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13/22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271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1000" y="133350"/>
            <a:ext cx="8283526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PPTv2agent 参考：DeepPresenter 双 Agent 架构与 Content Style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81000" y="727621"/>
            <a:ext cx="11430000" cy="3463379"/>
          </a:xfrm>
          <a:prstGeom prst="rect">
            <a:avLst/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5" name="Image 0" descr="C:\Users\int2t\AppData\Local\Temp\html2pptx-5uU0B1\html2pptx-bg-1787716436332-1097bc48dec8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775" y="1906786"/>
            <a:ext cx="11220450" cy="11049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1000" y="4286250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DeepPresenter ACL2026 SOTA（均分 4.44 超 Gamma 4.36）</a:t>
            </a:r>
            <a:endParaRPr lang="en-US" sz="1575" dirty="0"/>
          </a:p>
        </p:txBody>
      </p:sp>
      <p:sp>
        <p:nvSpPr>
          <p:cNvPr id="7" name="Shape 4"/>
          <p:cNvSpPr/>
          <p:nvPr/>
        </p:nvSpPr>
        <p:spPr>
          <a:xfrm>
            <a:off x="381000" y="4410075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381000" y="4643438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 Agent 共享观察空间 + 环境接地反思</a:t>
            </a:r>
            <a:endParaRPr lang="en-US" sz="1575" dirty="0"/>
          </a:p>
        </p:txBody>
      </p:sp>
      <p:sp>
        <p:nvSpPr>
          <p:cNvPr id="9" name="Shape 6"/>
          <p:cNvSpPr/>
          <p:nvPr/>
        </p:nvSpPr>
        <p:spPr>
          <a:xfrm>
            <a:off x="381000" y="4767263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81000" y="5000625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信息加工成半成品而非原材料</a:t>
            </a:r>
            <a:endParaRPr lang="en-US" sz="1575" dirty="0"/>
          </a:p>
        </p:txBody>
      </p:sp>
      <p:sp>
        <p:nvSpPr>
          <p:cNvPr id="11" name="Shape 8"/>
          <p:cNvSpPr/>
          <p:nvPr/>
        </p:nvSpPr>
        <p:spPr>
          <a:xfrm>
            <a:off x="381000" y="5124450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81000" y="5357813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每页围绕一个核心洞察，金字塔原则</a:t>
            </a:r>
            <a:endParaRPr lang="en-US" sz="1575" dirty="0"/>
          </a:p>
        </p:txBody>
      </p:sp>
      <p:sp>
        <p:nvSpPr>
          <p:cNvPr id="13" name="Shape 10"/>
          <p:cNvSpPr/>
          <p:nvPr/>
        </p:nvSpPr>
        <p:spPr>
          <a:xfrm>
            <a:off x="381000" y="5481638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381000" y="5715000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图片承载信息而非填空，优先可信来源</a:t>
            </a:r>
            <a:endParaRPr lang="en-US" sz="1575" dirty="0"/>
          </a:p>
        </p:txBody>
      </p:sp>
      <p:sp>
        <p:nvSpPr>
          <p:cNvPr id="15" name="Shape 12"/>
          <p:cNvSpPr/>
          <p:nvPr/>
        </p:nvSpPr>
        <p:spPr>
          <a:xfrm>
            <a:off x="381000" y="5838825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381000" y="6072188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学术参考方法论，PPT-Agentskill 是工程落地</a:t>
            </a:r>
            <a:endParaRPr lang="en-US" sz="1575" dirty="0"/>
          </a:p>
        </p:txBody>
      </p:sp>
      <p:sp>
        <p:nvSpPr>
          <p:cNvPr id="17" name="Shape 14"/>
          <p:cNvSpPr/>
          <p:nvPr/>
        </p:nvSpPr>
        <p:spPr>
          <a:xfrm>
            <a:off x="381000" y="6196013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342900" y="6453187"/>
            <a:ext cx="115062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342900" y="6515100"/>
            <a:ext cx="16517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7A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田沛康 · SAIE 业务域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1420029" y="6529388"/>
            <a:ext cx="4376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14/22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271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1000" y="133350"/>
            <a:ext cx="9025092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skill 框架比较：ppt-pipeline-swarm vs 标准 swarm-skill vs PPTv2agent</a:t>
            </a:r>
            <a:endParaRPr lang="en-US" sz="2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727621"/>
          <a:ext cx="1143000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4457700"/>
                <a:gridCol w="4457700"/>
              </a:tblGrid>
              <a:tr h="448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75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575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75" b="1" dirty="0">
                          <a:solidFill>
                            <a:srgbClr val="FFFFFF"/>
                          </a:solidFill>
                          <a:latin typeface="Arial" pitchFamily="34" charset="0"/>
                          <a:ea typeface="Microsoft YaHei" pitchFamily="34" charset="-122"/>
                          <a:cs typeface="Arial" pitchFamily="34" charset="-120"/>
                        </a:rPr>
                        <a:t>标准 swarm-skill</a:t>
                      </a:r>
                      <a:endParaRPr lang="en-US" sz="15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75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ppt-pipeline-swarm</a:t>
                      </a:r>
                      <a:endParaRPr lang="en-US" sz="15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4FA8"/>
                    </a:solidFill>
                  </a:tcPr>
                </a:tc>
              </a:tr>
              <a:tr h="4536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0E3F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编排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工具跑原语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手动建队编排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84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0E3F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质量门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脚本内嵌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Arial" pitchFamily="34" charset="0"/>
                          <a:ea typeface="Microsoft YaHei" pitchFamily="34" charset="-122"/>
                          <a:cs typeface="Arial" pitchFamily="34" charset="-120"/>
                        </a:rPr>
                        <a:t>脚本 + LLM 双层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84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0E3F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人机交互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原语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转达协议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81000" y="5000625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相比标准形态：简化为手动编排，适合固定流水线</a:t>
            </a:r>
            <a:endParaRPr lang="en-US" sz="1575" dirty="0"/>
          </a:p>
        </p:txBody>
      </p:sp>
      <p:sp>
        <p:nvSpPr>
          <p:cNvPr id="6" name="Shape 3"/>
          <p:cNvSpPr/>
          <p:nvPr/>
        </p:nvSpPr>
        <p:spPr>
          <a:xfrm>
            <a:off x="381000" y="5124450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381000" y="5357813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相比 PPTv2agent：平台上的工程实现，非学术方法</a:t>
            </a:r>
            <a:endParaRPr lang="en-US" sz="1575" dirty="0"/>
          </a:p>
        </p:txBody>
      </p:sp>
      <p:sp>
        <p:nvSpPr>
          <p:cNvPr id="8" name="Shape 5"/>
          <p:cNvSpPr/>
          <p:nvPr/>
        </p:nvSpPr>
        <p:spPr>
          <a:xfrm>
            <a:off x="381000" y="5481638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81000" y="5715000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设计器引擎源自 PPTAgent v2 提取重写为独立 CLI</a:t>
            </a:r>
            <a:endParaRPr lang="en-US" sz="1575" dirty="0"/>
          </a:p>
        </p:txBody>
      </p:sp>
      <p:sp>
        <p:nvSpPr>
          <p:cNvPr id="10" name="Shape 7"/>
          <p:cNvSpPr/>
          <p:nvPr/>
        </p:nvSpPr>
        <p:spPr>
          <a:xfrm>
            <a:off x="381000" y="5838825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81000" y="6072188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选型依据：固定流水线 + 断点续跑 → 编排式</a:t>
            </a:r>
            <a:endParaRPr lang="en-US" sz="1575" dirty="0"/>
          </a:p>
        </p:txBody>
      </p:sp>
      <p:sp>
        <p:nvSpPr>
          <p:cNvPr id="12" name="Shape 9"/>
          <p:cNvSpPr/>
          <p:nvPr/>
        </p:nvSpPr>
        <p:spPr>
          <a:xfrm>
            <a:off x="381000" y="6196013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342900" y="6453187"/>
            <a:ext cx="115062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342900" y="6515100"/>
            <a:ext cx="16517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7A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田沛康 · SAIE 业务域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1420029" y="6529388"/>
            <a:ext cx="4376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15/22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271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1000" y="133350"/>
            <a:ext cx="7113264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项目背景：公式原生插入 —— 可编辑 OMML 方程而非图片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81000" y="727621"/>
            <a:ext cx="11430000" cy="3820567"/>
          </a:xfrm>
          <a:prstGeom prst="rect">
            <a:avLst/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5" name="Image 0" descr="C:\Users\int2t\AppData\Local\Temp\html2pptx-5uU0B1\html2pptx-bg-1787716436594-dfaacd8cd548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775" y="2244328"/>
            <a:ext cx="11220450" cy="7870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1000" y="4643438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需求：公式必须可编辑，WPS 兼容</a:t>
            </a:r>
            <a:endParaRPr lang="en-US" sz="1575" dirty="0"/>
          </a:p>
        </p:txBody>
      </p:sp>
      <p:sp>
        <p:nvSpPr>
          <p:cNvPr id="7" name="Shape 4"/>
          <p:cNvSpPr/>
          <p:nvPr/>
        </p:nvSpPr>
        <p:spPr>
          <a:xfrm>
            <a:off x="381000" y="4767263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381000" y="5000625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Python PPT 库不支持原生公式（2019 至今未解决）</a:t>
            </a:r>
            <a:endParaRPr lang="en-US" sz="1575" dirty="0"/>
          </a:p>
        </p:txBody>
      </p:sp>
      <p:sp>
        <p:nvSpPr>
          <p:cNvPr id="9" name="Shape 6"/>
          <p:cNvSpPr/>
          <p:nvPr/>
        </p:nvSpPr>
        <p:spPr>
          <a:xfrm>
            <a:off x="381000" y="5124450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81000" y="5357813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PowerPoint 需特殊命名空间包装</a:t>
            </a:r>
            <a:endParaRPr lang="en-US" sz="1575" dirty="0"/>
          </a:p>
        </p:txBody>
      </p:sp>
      <p:sp>
        <p:nvSpPr>
          <p:cNvPr id="11" name="Shape 8"/>
          <p:cNvSpPr/>
          <p:nvPr/>
        </p:nvSpPr>
        <p:spPr>
          <a:xfrm>
            <a:off x="381000" y="5481638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81000" y="5715000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WPS 渲染有多个兼容陷阱：不渲染直立体、不认某些包装</a:t>
            </a:r>
            <a:endParaRPr lang="en-US" sz="1575" dirty="0"/>
          </a:p>
        </p:txBody>
      </p:sp>
      <p:sp>
        <p:nvSpPr>
          <p:cNvPr id="13" name="Shape 10"/>
          <p:cNvSpPr/>
          <p:nvPr/>
        </p:nvSpPr>
        <p:spPr>
          <a:xfrm>
            <a:off x="381000" y="5838825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381000" y="6072188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方案四次迭代：图片 → 转换库 → 重型工具 → 手写解析器</a:t>
            </a:r>
            <a:endParaRPr lang="en-US" sz="1575" dirty="0"/>
          </a:p>
        </p:txBody>
      </p:sp>
      <p:sp>
        <p:nvSpPr>
          <p:cNvPr id="15" name="Shape 12"/>
          <p:cNvSpPr/>
          <p:nvPr/>
        </p:nvSpPr>
        <p:spPr>
          <a:xfrm>
            <a:off x="381000" y="6196013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342900" y="6453187"/>
            <a:ext cx="115062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342900" y="6515100"/>
            <a:ext cx="16517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7A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田沛康 · SAIE 业务域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1420029" y="6529388"/>
            <a:ext cx="4376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16/22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271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1000" y="133350"/>
            <a:ext cx="3808476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产出：公式原生插入方案与验证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81000" y="727621"/>
            <a:ext cx="11430000" cy="3463379"/>
          </a:xfrm>
          <a:prstGeom prst="rect">
            <a:avLst/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5" name="Image 0" descr="C:\Users\int2t\AppData\Local\Temp\html2pptx-5uU0B1\html2pptx-bg-1787716436764-e6bbdb5c0d2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775" y="2082105"/>
            <a:ext cx="11220450" cy="7544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1000" y="4286250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手写递归下降解析器直接生成 OMML</a:t>
            </a:r>
            <a:endParaRPr lang="en-US" sz="1575" dirty="0"/>
          </a:p>
        </p:txBody>
      </p:sp>
      <p:sp>
        <p:nvSpPr>
          <p:cNvPr id="7" name="Shape 4"/>
          <p:cNvSpPr/>
          <p:nvPr/>
        </p:nvSpPr>
        <p:spPr>
          <a:xfrm>
            <a:off x="381000" y="4410075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381000" y="4643438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全链路：文稿 → 设计器标记 → 收集 → 注入原生方程</a:t>
            </a:r>
            <a:endParaRPr lang="en-US" sz="1575" dirty="0"/>
          </a:p>
        </p:txBody>
      </p:sp>
      <p:sp>
        <p:nvSpPr>
          <p:cNvPr id="9" name="Shape 6"/>
          <p:cNvSpPr/>
          <p:nvPr/>
        </p:nvSpPr>
        <p:spPr>
          <a:xfrm>
            <a:off x="381000" y="4767263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81000" y="5000625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个公式全部成功，WPS 可见</a:t>
            </a:r>
            <a:endParaRPr lang="en-US" sz="1575" dirty="0"/>
          </a:p>
        </p:txBody>
      </p:sp>
      <p:sp>
        <p:nvSpPr>
          <p:cNvPr id="11" name="Shape 8"/>
          <p:cNvSpPr/>
          <p:nvPr/>
        </p:nvSpPr>
        <p:spPr>
          <a:xfrm>
            <a:off x="381000" y="5124450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81000" y="5357813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零新增依赖，复用已有库</a:t>
            </a:r>
            <a:endParaRPr lang="en-US" sz="1575" dirty="0"/>
          </a:p>
        </p:txBody>
      </p:sp>
      <p:sp>
        <p:nvSpPr>
          <p:cNvPr id="13" name="Shape 10"/>
          <p:cNvSpPr/>
          <p:nvPr/>
        </p:nvSpPr>
        <p:spPr>
          <a:xfrm>
            <a:off x="381000" y="5481638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381000" y="5715000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文件更小（32KB vs 图片 96KB）</a:t>
            </a:r>
            <a:endParaRPr lang="en-US" sz="1575" dirty="0"/>
          </a:p>
        </p:txBody>
      </p:sp>
      <p:sp>
        <p:nvSpPr>
          <p:cNvPr id="15" name="Shape 12"/>
          <p:cNvSpPr/>
          <p:nvPr/>
        </p:nvSpPr>
        <p:spPr>
          <a:xfrm>
            <a:off x="381000" y="5838825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381000" y="6072188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配套公式识别规范决策表与校验脚本</a:t>
            </a:r>
            <a:endParaRPr lang="en-US" sz="1575" dirty="0"/>
          </a:p>
        </p:txBody>
      </p:sp>
      <p:sp>
        <p:nvSpPr>
          <p:cNvPr id="17" name="Shape 14"/>
          <p:cNvSpPr/>
          <p:nvPr/>
        </p:nvSpPr>
        <p:spPr>
          <a:xfrm>
            <a:off x="381000" y="6196013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342900" y="6453187"/>
            <a:ext cx="115062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342900" y="6515100"/>
            <a:ext cx="16517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7A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田沛康 · SAIE 业务域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1420029" y="6529388"/>
            <a:ext cx="4376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17/22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271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1000" y="133350"/>
            <a:ext cx="7342945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Wiki 产出：工作指南、知识拓展、基础学习、工程实践 21 篇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81000" y="727621"/>
            <a:ext cx="11430000" cy="2476500"/>
          </a:xfrm>
          <a:prstGeom prst="rect">
            <a:avLst/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5" name="Image 0" descr="C:\Users\int2t\AppData\Local\Temp\html2pptx-5uU0B1\html2pptx-bg-1787716436950-542156abd66c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775" y="1461790"/>
            <a:ext cx="11220450" cy="1008162"/>
          </a:xfrm>
          <a:prstGeom prst="rect">
            <a:avLst/>
          </a:prstGeom>
        </p:spPr>
      </p:pic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3299371"/>
          <a:ext cx="114300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1371600"/>
                <a:gridCol w="8001000"/>
              </a:tblGrid>
              <a:tr h="4486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75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分类</a:t>
                      </a:r>
                      <a:endParaRPr lang="en-US" sz="1575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75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篇数</a:t>
                      </a:r>
                      <a:endParaRPr lang="en-US" sz="1575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75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</a:t>
                      </a:r>
                      <a:endParaRPr lang="en-US" sz="1575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4FA8"/>
                    </a:solidFill>
                  </a:tcPr>
                </a:tc>
              </a:tr>
              <a:tr h="453386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0E3F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基础学习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Arial" pitchFamily="34" charset="0"/>
                          <a:ea typeface="Microsoft YaHei" pitchFamily="34" charset="-122"/>
                          <a:cs typeface="Arial" pitchFamily="34" charset="-120"/>
                        </a:rPr>
                        <a:t>PPTAgent 框架解析、九问 skill 机制、swarmflow 原语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8158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0E3F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知识拓展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种组装方式选型、公式插入 8 项目对比、样式模板调研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8158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0E3F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工作指南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Arial" pitchFamily="34" charset="0"/>
                          <a:ea typeface="Microsoft YaHei" pitchFamily="34" charset="-122"/>
                          <a:cs typeface="Arial" pitchFamily="34" charset="-120"/>
                        </a:rPr>
                        <a:t>PresentBench 30 条检查项、三 agent 产物设计原则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8158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0E3F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工程实践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75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Arial" pitchFamily="34" charset="0"/>
                          <a:ea typeface="Microsoft YaHei" pitchFamily="34" charset="-122"/>
                          <a:cs typeface="Arial" pitchFamily="34" charset="-120"/>
                        </a:rPr>
                        <a:t>4 分支审计 + 纯净性总结，50+ commit 可追溯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5725" marB="8572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381000" y="5715000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篇约 34 万字，5 个开源项目横向调研</a:t>
            </a:r>
            <a:endParaRPr lang="en-US" sz="1575" dirty="0"/>
          </a:p>
        </p:txBody>
      </p:sp>
      <p:sp>
        <p:nvSpPr>
          <p:cNvPr id="8" name="Shape 4"/>
          <p:cNvSpPr/>
          <p:nvPr/>
        </p:nvSpPr>
        <p:spPr>
          <a:xfrm>
            <a:off x="381000" y="5838825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381000" y="6072188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公式方案 26 公式端到端验证，12 套 CSS 模板确定性物化</a:t>
            </a:r>
            <a:endParaRPr lang="en-US" sz="1575" dirty="0"/>
          </a:p>
        </p:txBody>
      </p:sp>
      <p:sp>
        <p:nvSpPr>
          <p:cNvPr id="10" name="Shape 6"/>
          <p:cNvSpPr/>
          <p:nvPr/>
        </p:nvSpPr>
        <p:spPr>
          <a:xfrm>
            <a:off x="381000" y="6196013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342900" y="6453187"/>
            <a:ext cx="115062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342900" y="6515100"/>
            <a:ext cx="16517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7A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田沛康 · SAIE 业务域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1420029" y="6529388"/>
            <a:ext cx="4376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18/22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604963"/>
            <a:ext cx="10287000" cy="69532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1075" y="1738313"/>
            <a:ext cx="0" cy="428625"/>
          </a:xfrm>
          <a:prstGeom prst="line">
            <a:avLst/>
          </a:prstGeom>
          <a:noFill/>
          <a:ln w="5715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52500" y="1604963"/>
            <a:ext cx="10492740" cy="695325"/>
          </a:xfrm>
          <a:prstGeom prst="rect">
            <a:avLst/>
          </a:prstGeom>
          <a:noFill/>
          <a:ln/>
        </p:spPr>
        <p:txBody>
          <a:bodyPr wrap="square" lIns="228600" tIns="133350" rIns="228600" bIns="13335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  <a:p>
            <a:pPr algn="l" indent="0" marL="0">
              <a:buNone/>
            </a:pPr>
            <a:r>
              <a:rPr lang="en-US" sz="1950" b="1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自我介绍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52500" y="2471738"/>
            <a:ext cx="10287000" cy="69532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81075" y="2605088"/>
            <a:ext cx="0" cy="428625"/>
          </a:xfrm>
          <a:prstGeom prst="line">
            <a:avLst/>
          </a:prstGeom>
          <a:noFill/>
          <a:ln w="5715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52500" y="2471738"/>
            <a:ext cx="10492740" cy="695325"/>
          </a:xfrm>
          <a:prstGeom prst="rect">
            <a:avLst/>
          </a:prstGeom>
          <a:noFill/>
          <a:ln/>
        </p:spPr>
        <p:txBody>
          <a:bodyPr wrap="square" lIns="228600" tIns="133350" rIns="228600" bIns="13335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  <a:p>
            <a:pPr algn="l" indent="0" marL="0">
              <a:buNone/>
            </a:pPr>
            <a:r>
              <a:rPr lang="en-US" sz="1950" b="1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学习及工作内容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52500" y="3338513"/>
            <a:ext cx="10287000" cy="69532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981075" y="3471863"/>
            <a:ext cx="0" cy="428625"/>
          </a:xfrm>
          <a:prstGeom prst="line">
            <a:avLst/>
          </a:prstGeom>
          <a:noFill/>
          <a:ln w="5715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52500" y="3338513"/>
            <a:ext cx="10492740" cy="695325"/>
          </a:xfrm>
          <a:prstGeom prst="rect">
            <a:avLst/>
          </a:prstGeom>
          <a:noFill/>
          <a:ln/>
        </p:spPr>
        <p:txBody>
          <a:bodyPr wrap="square" lIns="228600" tIns="133350" rIns="228600" bIns="13335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  <a:p>
            <a:pPr algn="l" indent="0" marL="0">
              <a:buNone/>
            </a:pPr>
            <a:r>
              <a:rPr lang="en-US" sz="1950" b="1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主要工作输出及总结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52500" y="4205288"/>
            <a:ext cx="10287000" cy="6953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981075" y="4338638"/>
            <a:ext cx="0" cy="428625"/>
          </a:xfrm>
          <a:prstGeom prst="line">
            <a:avLst/>
          </a:prstGeom>
          <a:noFill/>
          <a:ln w="57150">
            <a:solidFill>
              <a:srgbClr val="0E3F8C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238250" y="4338638"/>
            <a:ext cx="54406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000250" y="4386263"/>
            <a:ext cx="303123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E3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自我反思及下一步学习计划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058400" y="4429125"/>
            <a:ext cx="971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收获与规划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42900" y="6453187"/>
            <a:ext cx="115062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42900" y="6515100"/>
            <a:ext cx="16517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7A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田沛康 · SAIE 业务域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420029" y="6529388"/>
            <a:ext cx="4376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19/22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271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1000" y="133350"/>
            <a:ext cx="321917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收获和体会 / 有待改进之处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81000" y="727621"/>
            <a:ext cx="11430000" cy="3820567"/>
          </a:xfrm>
          <a:prstGeom prst="rect">
            <a:avLst/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5" name="Image 0" descr="C:\Users\int2t\AppData\Local\Temp\html2pptx-5uU0B1\html2pptx-bg-1787716437197-2f569faa9ed0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0417" y="832396"/>
            <a:ext cx="3611017" cy="36110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1000" y="4643438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收获：代码开发能力提高、培养工程化思维</a:t>
            </a:r>
            <a:endParaRPr lang="en-US" sz="1575" dirty="0"/>
          </a:p>
        </p:txBody>
      </p:sp>
      <p:sp>
        <p:nvSpPr>
          <p:cNvPr id="7" name="Shape 4"/>
          <p:cNvSpPr/>
          <p:nvPr/>
        </p:nvSpPr>
        <p:spPr>
          <a:xfrm>
            <a:off x="381000" y="4767263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381000" y="5000625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收获：方法论沉淀（vanilla 二分法、可观察性、纯净原则）</a:t>
            </a:r>
            <a:endParaRPr lang="en-US" sz="1575" dirty="0"/>
          </a:p>
        </p:txBody>
      </p:sp>
      <p:sp>
        <p:nvSpPr>
          <p:cNvPr id="9" name="Shape 6"/>
          <p:cNvSpPr/>
          <p:nvPr/>
        </p:nvSpPr>
        <p:spPr>
          <a:xfrm>
            <a:off x="381000" y="5124450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81000" y="5357813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不足：底层向量化内核与编译器实现了解不够</a:t>
            </a:r>
            <a:endParaRPr lang="en-US" sz="1575" dirty="0"/>
          </a:p>
        </p:txBody>
      </p:sp>
      <p:sp>
        <p:nvSpPr>
          <p:cNvPr id="11" name="Shape 8"/>
          <p:cNvSpPr/>
          <p:nvPr/>
        </p:nvSpPr>
        <p:spPr>
          <a:xfrm>
            <a:off x="381000" y="5481638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81000" y="5715000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不足：skill 包零实战验证，非工作流提炼</a:t>
            </a:r>
            <a:endParaRPr lang="en-US" sz="1575" dirty="0"/>
          </a:p>
        </p:txBody>
      </p:sp>
      <p:sp>
        <p:nvSpPr>
          <p:cNvPr id="13" name="Shape 10"/>
          <p:cNvSpPr/>
          <p:nvPr/>
        </p:nvSpPr>
        <p:spPr>
          <a:xfrm>
            <a:off x="381000" y="5838825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381000" y="6072188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不足：8 月切入 Agent 后 OmniStream 深度推进受限</a:t>
            </a:r>
            <a:endParaRPr lang="en-US" sz="1575" dirty="0"/>
          </a:p>
        </p:txBody>
      </p:sp>
      <p:sp>
        <p:nvSpPr>
          <p:cNvPr id="15" name="Shape 12"/>
          <p:cNvSpPr/>
          <p:nvPr/>
        </p:nvSpPr>
        <p:spPr>
          <a:xfrm>
            <a:off x="381000" y="6196013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342900" y="6453187"/>
            <a:ext cx="115062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342900" y="6515100"/>
            <a:ext cx="16517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7A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田沛康 · SAIE 业务域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1420029" y="6529388"/>
            <a:ext cx="4376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20/22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271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1000" y="133350"/>
            <a:ext cx="1904238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下一步学习计划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81000" y="727621"/>
            <a:ext cx="11430000" cy="4534942"/>
          </a:xfrm>
          <a:prstGeom prst="rect">
            <a:avLst/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5" name="Image 0" descr="C:\Users\int2t\AppData\Local\Temp\html2pptx-5uU0B1\html2pptx-bg-1787716437362-4f65de20fdeb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775" y="2405360"/>
            <a:ext cx="11220450" cy="11793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1000" y="5357813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OmniStream 开发推进：补齐剩余表达式类型，推进性能验证与开源贡献</a:t>
            </a:r>
            <a:endParaRPr lang="en-US" sz="1575" dirty="0"/>
          </a:p>
        </p:txBody>
      </p:sp>
      <p:sp>
        <p:nvSpPr>
          <p:cNvPr id="7" name="Shape 4"/>
          <p:cNvSpPr/>
          <p:nvPr/>
        </p:nvSpPr>
        <p:spPr>
          <a:xfrm>
            <a:off x="381000" y="5481638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381000" y="5715000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底层深度补齐：深入向量化内核与编译器实现，从能用走向吃透</a:t>
            </a:r>
            <a:endParaRPr lang="en-US" sz="1575" dirty="0"/>
          </a:p>
        </p:txBody>
      </p:sp>
      <p:sp>
        <p:nvSpPr>
          <p:cNvPr id="9" name="Shape 6"/>
          <p:cNvSpPr/>
          <p:nvPr/>
        </p:nvSpPr>
        <p:spPr>
          <a:xfrm>
            <a:off x="381000" y="5838825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81000" y="6072188"/>
            <a:ext cx="11658600" cy="3000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工程化实战：推进 skill 包真实场景跑通，深化公式原生插入能力扩展</a:t>
            </a:r>
            <a:endParaRPr lang="en-US" sz="1575" dirty="0"/>
          </a:p>
        </p:txBody>
      </p:sp>
      <p:sp>
        <p:nvSpPr>
          <p:cNvPr id="11" name="Shape 8"/>
          <p:cNvSpPr/>
          <p:nvPr/>
        </p:nvSpPr>
        <p:spPr>
          <a:xfrm>
            <a:off x="381000" y="6196013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342900" y="6453187"/>
            <a:ext cx="115062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342900" y="6515100"/>
            <a:ext cx="16517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7A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田沛康 · SAIE 业务域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1420029" y="6529388"/>
            <a:ext cx="4376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21/22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63312" y="2143125"/>
            <a:ext cx="1865376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E3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　谢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5715000" y="3076575"/>
            <a:ext cx="762000" cy="38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064764" y="3343275"/>
            <a:ext cx="6062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1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感谢在座的评委、各位领导百忙中抽出时间参与本次答辩！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064764" y="3800475"/>
            <a:ext cx="6062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1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感谢导师向云武、主管李兆星、周围的同事的指导与帮助！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064764" y="4257675"/>
            <a:ext cx="6062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1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感谢所有给予过帮助指导和工作支持的人们！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Microsoft YaHei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Microsoft YaHe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2026-08-26T03:53:57Z</dcterms:created>
  <dcterms:modified xsi:type="dcterms:W3CDTF">2026-08-26T03:53:57Z</dcterms:modified>
</cp:coreProperties>
</file>